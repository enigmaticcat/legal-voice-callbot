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91" r:id="rId4"/>
    <p:sldId id="295" r:id="rId5"/>
    <p:sldId id="292" r:id="rId6"/>
    <p:sldId id="297" r:id="rId7"/>
    <p:sldId id="296" r:id="rId8"/>
    <p:sldId id="285" r:id="rId9"/>
    <p:sldId id="298" r:id="rId10"/>
    <p:sldId id="299" r:id="rId11"/>
    <p:sldId id="300" r:id="rId12"/>
    <p:sldId id="290" r:id="rId13"/>
    <p:sldId id="293" r:id="rId14"/>
    <p:sldId id="294" r:id="rId15"/>
    <p:sldId id="286" r:id="rId16"/>
    <p:sldId id="288" r:id="rId17"/>
    <p:sldId id="289" r:id="rId18"/>
    <p:sldId id="287" r:id="rId19"/>
    <p:sldId id="284" r:id="rId20"/>
    <p:sldId id="279" r:id="rId21"/>
    <p:sldId id="276" r:id="rId22"/>
    <p:sldId id="277" r:id="rId23"/>
    <p:sldId id="282" r:id="rId24"/>
    <p:sldId id="283" r:id="rId25"/>
    <p:sldId id="278" r:id="rId26"/>
    <p:sldId id="281" r:id="rId27"/>
    <p:sldId id="280" r:id="rId2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4483" autoAdjust="0"/>
    <p:restoredTop sz="94696"/>
  </p:normalViewPr>
  <p:slideViewPr>
    <p:cSldViewPr snapToGrid="0">
      <p:cViewPr varScale="1">
        <p:scale>
          <a:sx n="104" d="100"/>
          <a:sy n="104" d="100"/>
        </p:scale>
        <p:origin x="232" y="2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F1CD64-1766-2ED6-8113-12FA8A83C7D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28DE92E-354E-F7F6-2337-22284010440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E8116A-29DF-5253-1D1E-158F43F7CE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BA6A02-9B18-404B-A6C4-99E209F49A1B}" type="datetimeFigureOut">
              <a:rPr lang="en-US" smtClean="0"/>
              <a:t>5/13/26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7F845F-63EC-84FC-91C8-08B22A837C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DA9B75-0966-5028-801D-1109D236F4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1D5F59-FCD2-44A7-BC83-9950D430D0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7410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145909-A051-ED70-65CB-9CF74E1247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A7DEE8-6EAA-F7BF-C1FE-85F0BBAB7E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DA6741-5619-DD02-63CB-7591FCAC3E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BA6A02-9B18-404B-A6C4-99E209F49A1B}" type="datetimeFigureOut">
              <a:rPr lang="en-US" smtClean="0"/>
              <a:t>5/13/26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81712E-27C4-8137-A820-51A44ADDA4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FC167B-3FE1-BE71-D2D1-1FF907F6C8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1D5F59-FCD2-44A7-BC83-9950D430D0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6147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0D4300-11B5-4BCE-06EE-2925FCCCD0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327711-454D-FB6C-B63A-D78756F19E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3BC7CC-C4A1-B319-9DCE-8B77F15539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BA6A02-9B18-404B-A6C4-99E209F49A1B}" type="datetimeFigureOut">
              <a:rPr lang="en-US" smtClean="0"/>
              <a:t>5/13/26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76CC8C-6E1F-7751-4E34-3C2586529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52FC72-12A8-9213-021D-B50D1BBC71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1D5F59-FCD2-44A7-BC83-9950D430D0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99684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DD0EE2-FB77-8E0B-74A0-025697D5F1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7E2ADB-A079-7EB3-4271-F63A5D558FC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9F0A2F9-59E8-B5E5-6D48-F5A00FAB11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C6D2DAB-B3A4-8A77-4C79-5F5048ED9F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BA6A02-9B18-404B-A6C4-99E209F49A1B}" type="datetimeFigureOut">
              <a:rPr lang="en-US" smtClean="0"/>
              <a:t>5/13/26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010B2EB-4BC9-C354-E8D1-39596B24E7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33A752-481C-0E0E-CC56-3CD8284DE6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1D5F59-FCD2-44A7-BC83-9950D430D0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91626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BB3832-5E1B-A196-D091-E8D4DA0AEE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B551EE-0D95-E248-E460-FCD733494D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3230656-55CA-5C0F-10E8-7382C981494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55DD256-10FD-DB18-8F81-95EF85392F7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CFB6873-7BFD-4385-1C46-EA728C8AF49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2E89725-8FA3-830E-27C6-B26275B23D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BA6A02-9B18-404B-A6C4-99E209F49A1B}" type="datetimeFigureOut">
              <a:rPr lang="en-US" smtClean="0"/>
              <a:t>5/13/26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E7DDC48-6A36-629D-DFEF-5B3EA90BE9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B8AC560-2D1D-4149-AFD4-AF0F5DFDFD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1D5F59-FCD2-44A7-BC83-9950D430D0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14872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032537-B53C-F03F-3CEA-5FF9275D9C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88EDD4D-AD12-B992-4EC2-F4D01EE788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BA6A02-9B18-404B-A6C4-99E209F49A1B}" type="datetimeFigureOut">
              <a:rPr lang="en-US" smtClean="0"/>
              <a:t>5/13/26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4CB2505-D0EE-49A5-5AF5-847F7ABB2C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8096C3E-7F81-60D9-088B-B9A13FCB34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1D5F59-FCD2-44A7-BC83-9950D430D0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75025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73B3518-1449-3F1B-901E-20C166488B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BA6A02-9B18-404B-A6C4-99E209F49A1B}" type="datetimeFigureOut">
              <a:rPr lang="en-US" smtClean="0"/>
              <a:t>5/13/26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AA6B4C8-0BB5-8384-04F5-2FF71AD7C0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2CB01E-9260-FC1D-4995-78D1B26F6E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1D5F59-FCD2-44A7-BC83-9950D430D0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82169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DA206C-74C9-7D47-A946-0C94F13904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54FBD8-4F36-6B34-221D-5DDF53700B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406A4D6-356E-C8F1-2160-4665FE88562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5243F23-80C3-72F2-E7AF-63767CE315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BA6A02-9B18-404B-A6C4-99E209F49A1B}" type="datetimeFigureOut">
              <a:rPr lang="en-US" smtClean="0"/>
              <a:t>5/13/26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C59F365-B909-72A8-0631-8EB58332B5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9AE0F18-ECDA-AEA7-DDFA-A57A129F61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1D5F59-FCD2-44A7-BC83-9950D430D0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49459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DF4483-D635-1034-AD8B-CDD673DE4C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0157458-3D58-4333-5CB7-62BE022FED6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A76D280-E3FF-9A3D-3DCF-7E5CD4F16D4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83DC25C-B0FF-6996-0FE2-3D7EA88C57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BA6A02-9B18-404B-A6C4-99E209F49A1B}" type="datetimeFigureOut">
              <a:rPr lang="en-US" smtClean="0"/>
              <a:t>5/13/26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13691E-8DA1-7218-D0E0-626007948B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73F6194-AB95-6664-90B3-8A21B6B9F2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1D5F59-FCD2-44A7-BC83-9950D430D0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67085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7FCB6B-7206-760B-36AE-941C74B98C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6CE7306-F7A0-63DD-F5DA-C76C2246CAD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F47DE6-B330-F95B-2DB5-2A0190977F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BA6A02-9B18-404B-A6C4-99E209F49A1B}" type="datetimeFigureOut">
              <a:rPr lang="en-US" smtClean="0"/>
              <a:t>5/13/26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BEAA89-3D42-A97E-46D9-3659A102D0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13A0DD-84A0-10AC-CC23-A147DF09C1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1D5F59-FCD2-44A7-BC83-9950D430D0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08776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E314BFF-9E1F-54B0-87F3-302D9BE074A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3E250D5-F3CE-6BA4-C534-912405BC7FF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4F6A3E-E157-85F2-11E9-DC900D5E3A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BA6A02-9B18-404B-A6C4-99E209F49A1B}" type="datetimeFigureOut">
              <a:rPr lang="en-US" smtClean="0"/>
              <a:t>5/13/26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60778D-2FFF-48E8-C342-CB505D600B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A54A1B-2249-0952-6911-A94773C02E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1D5F59-FCD2-44A7-BC83-9950D430D0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32254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7120A2F-D1AE-963D-51E5-D3F3B27F0B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ACC372-2112-CCDD-630C-E4FA19242B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59B7EA-6E87-7DE9-0715-53FACD9DC61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FBA6A02-9B18-404B-A6C4-99E209F49A1B}" type="datetimeFigureOut">
              <a:rPr lang="en-US" smtClean="0"/>
              <a:t>5/13/26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480202-2451-5B19-F6F0-D6CA9A07CEA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744176-D810-FD76-91B5-6B1009DF276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21D5F59-FCD2-44A7-BC83-9950D430D0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43327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hyperlink" Target="https://chinhsachonline.chinhphu.vn/" TargetMode="Externa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976CE2-A533-EF34-679F-0D1D508DC99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Báo Cáo </a:t>
            </a:r>
            <a:r>
              <a:rPr lang="en-US" dirty="0" err="1"/>
              <a:t>đồ</a:t>
            </a:r>
            <a:r>
              <a:rPr lang="en-US" dirty="0"/>
              <a:t> </a:t>
            </a:r>
            <a:r>
              <a:rPr lang="en-US" dirty="0" err="1"/>
              <a:t>án</a:t>
            </a:r>
            <a:r>
              <a:rPr lang="en-US" dirty="0"/>
              <a:t> </a:t>
            </a:r>
            <a:r>
              <a:rPr lang="en-US" dirty="0" err="1"/>
              <a:t>tốt</a:t>
            </a:r>
            <a:r>
              <a:rPr lang="en-US" dirty="0"/>
              <a:t> </a:t>
            </a:r>
            <a:r>
              <a:rPr lang="en-US" dirty="0" err="1"/>
              <a:t>nghiệp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C190D9C-C1FC-6CDE-4B29-8B03381BD71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81167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2C2BE7-3BD5-1281-F575-6890168636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C0C54B2-0183-2058-BCE7-03164EC2EC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1. </a:t>
            </a:r>
            <a:r>
              <a:rPr lang="en-US" dirty="0" err="1"/>
              <a:t>Tình</a:t>
            </a:r>
            <a:r>
              <a:rPr lang="en-US" dirty="0"/>
              <a:t> </a:t>
            </a:r>
            <a:r>
              <a:rPr lang="en-US" dirty="0" err="1"/>
              <a:t>trạng</a:t>
            </a:r>
            <a:r>
              <a:rPr lang="en-US" dirty="0"/>
              <a:t> </a:t>
            </a:r>
            <a:r>
              <a:rPr lang="en-US" dirty="0" err="1"/>
              <a:t>hiện</a:t>
            </a:r>
            <a:r>
              <a:rPr lang="en-US" dirty="0"/>
              <a:t> </a:t>
            </a:r>
            <a:r>
              <a:rPr lang="en-US" dirty="0" err="1"/>
              <a:t>tại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4590DA-AD6D-1B37-EBD8-E318A0F617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87424"/>
            <a:ext cx="10515600" cy="4689539"/>
          </a:xfrm>
        </p:spPr>
        <p:txBody>
          <a:bodyPr>
            <a:normAutofit/>
          </a:bodyPr>
          <a:lstStyle/>
          <a:p>
            <a:r>
              <a:rPr lang="vi-VN" dirty="0"/>
              <a:t>Lựa chọn ASR model, so sánh các tham số của model LLM.</a:t>
            </a:r>
            <a:endParaRPr lang="en-VN" dirty="0"/>
          </a:p>
          <a:p>
            <a:endParaRPr lang="en-VN" dirty="0"/>
          </a:p>
          <a:p>
            <a:endParaRPr lang="en-VN" dirty="0"/>
          </a:p>
          <a:p>
            <a:endParaRPr lang="en-VN" dirty="0"/>
          </a:p>
          <a:p>
            <a:endParaRPr lang="en-VN" dirty="0"/>
          </a:p>
        </p:txBody>
      </p:sp>
    </p:spTree>
    <p:extLst>
      <p:ext uri="{BB962C8B-B14F-4D97-AF65-F5344CB8AC3E}">
        <p14:creationId xmlns:p14="http://schemas.microsoft.com/office/powerpoint/2010/main" val="12263609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47D828-CDFF-E944-BA14-B7A883A5CA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E3F7008-81E4-6D27-CEA7-4616BC039B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2. </a:t>
            </a:r>
            <a:r>
              <a:rPr lang="en-US" dirty="0" err="1"/>
              <a:t>Kết</a:t>
            </a:r>
            <a:r>
              <a:rPr lang="en-US" dirty="0"/>
              <a:t> </a:t>
            </a:r>
            <a:r>
              <a:rPr lang="en-US" dirty="0" err="1"/>
              <a:t>quả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ASR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E7EF33-0D81-CC20-EFE9-4922A51136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87424"/>
            <a:ext cx="10515600" cy="4689539"/>
          </a:xfrm>
        </p:spPr>
        <p:txBody>
          <a:bodyPr>
            <a:normAutofit/>
          </a:bodyPr>
          <a:lstStyle/>
          <a:p>
            <a:endParaRPr lang="en-VN" dirty="0"/>
          </a:p>
          <a:p>
            <a:endParaRPr lang="en-VN" dirty="0"/>
          </a:p>
          <a:p>
            <a:endParaRPr lang="en-VN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E59598A-8B27-18F0-6B73-49988BE705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271776"/>
            <a:ext cx="4597400" cy="30988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509393F-E1CC-73E2-249B-0F97D7366B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56402" y="2125980"/>
            <a:ext cx="4597400" cy="2971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43066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58349A-A67F-4B9A-108E-47FE56DF8D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FDC691E-0DDB-AAA3-80D2-CAEFFA0929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2. </a:t>
            </a:r>
            <a:r>
              <a:rPr lang="en-US" dirty="0" err="1"/>
              <a:t>Kết</a:t>
            </a:r>
            <a:r>
              <a:rPr lang="en-US" dirty="0"/>
              <a:t> </a:t>
            </a:r>
            <a:r>
              <a:rPr lang="en-US" dirty="0" err="1"/>
              <a:t>quả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ASR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A58514-84D7-E702-33E5-856B259606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87424"/>
            <a:ext cx="10515600" cy="4689539"/>
          </a:xfrm>
        </p:spPr>
        <p:txBody>
          <a:bodyPr>
            <a:normAutofit/>
          </a:bodyPr>
          <a:lstStyle/>
          <a:p>
            <a:endParaRPr lang="en-VN" dirty="0"/>
          </a:p>
          <a:p>
            <a:endParaRPr lang="en-VN" dirty="0"/>
          </a:p>
          <a:p>
            <a:endParaRPr lang="en-V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45BCA2C-F177-FE34-F4D1-248B0EE101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5840" y="1459866"/>
            <a:ext cx="6940319" cy="47170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30723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18FEB5-7202-83B8-E90D-8D6F460370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FE75061-F72C-9A84-63B0-E8C5A0F24C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2. </a:t>
            </a:r>
            <a:r>
              <a:rPr lang="en-US" dirty="0" err="1"/>
              <a:t>Kết</a:t>
            </a:r>
            <a:r>
              <a:rPr lang="en-US" dirty="0"/>
              <a:t> </a:t>
            </a:r>
            <a:r>
              <a:rPr lang="en-US" dirty="0" err="1"/>
              <a:t>quả</a:t>
            </a:r>
            <a:r>
              <a:rPr lang="en-US" dirty="0"/>
              <a:t> LLM </a:t>
            </a:r>
            <a:r>
              <a:rPr lang="en-US" dirty="0" err="1"/>
              <a:t>chạy</a:t>
            </a:r>
            <a:r>
              <a:rPr lang="en-US" dirty="0"/>
              <a:t> </a:t>
            </a:r>
            <a:r>
              <a:rPr lang="en-US" dirty="0" err="1"/>
              <a:t>trên</a:t>
            </a:r>
            <a:r>
              <a:rPr lang="en-US" dirty="0"/>
              <a:t> A100 query 10_3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BE5396-BA19-F274-5B01-390B152FF9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87424"/>
            <a:ext cx="10515600" cy="4689539"/>
          </a:xfrm>
        </p:spPr>
        <p:txBody>
          <a:bodyPr>
            <a:normAutofit/>
          </a:bodyPr>
          <a:lstStyle/>
          <a:p>
            <a:endParaRPr lang="en-VN" dirty="0"/>
          </a:p>
          <a:p>
            <a:endParaRPr lang="en-VN" dirty="0"/>
          </a:p>
          <a:p>
            <a:endParaRPr lang="en-V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27643A9-FD73-DAF4-53DC-E0A8FA8B57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0372" y="1461473"/>
            <a:ext cx="9591255" cy="4741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26175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4F1A02-BA21-DAB4-DE5F-175D916B01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FFC20E8-A884-D92E-A8D3-5582E0AB09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2. </a:t>
            </a:r>
            <a:r>
              <a:rPr lang="en-US" dirty="0" err="1"/>
              <a:t>Kết</a:t>
            </a:r>
            <a:r>
              <a:rPr lang="en-US" dirty="0"/>
              <a:t> </a:t>
            </a:r>
            <a:r>
              <a:rPr lang="en-US" dirty="0" err="1"/>
              <a:t>quả</a:t>
            </a:r>
            <a:r>
              <a:rPr lang="en-US" dirty="0"/>
              <a:t> LLM </a:t>
            </a:r>
            <a:r>
              <a:rPr lang="en-US" dirty="0" err="1"/>
              <a:t>chạy</a:t>
            </a:r>
            <a:r>
              <a:rPr lang="en-US" dirty="0"/>
              <a:t> </a:t>
            </a:r>
            <a:r>
              <a:rPr lang="en-US" dirty="0" err="1"/>
              <a:t>trên</a:t>
            </a:r>
            <a:r>
              <a:rPr lang="en-US" dirty="0"/>
              <a:t> A100 query 15_5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6A6972-9D14-4F5B-A072-1EAAAC783B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87424"/>
            <a:ext cx="10515600" cy="4689539"/>
          </a:xfrm>
        </p:spPr>
        <p:txBody>
          <a:bodyPr>
            <a:normAutofit/>
          </a:bodyPr>
          <a:lstStyle/>
          <a:p>
            <a:endParaRPr lang="en-VN" dirty="0"/>
          </a:p>
          <a:p>
            <a:endParaRPr lang="en-VN" dirty="0"/>
          </a:p>
          <a:p>
            <a:endParaRPr lang="en-VN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77C8AC4-D883-7A3C-2F40-247A6A3228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9227" y="1484048"/>
            <a:ext cx="9573546" cy="46929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81468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717FBE-BD8D-11F1-2036-EC61198964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4F6902B-D0D7-B76D-A5DE-389E1D6684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2. </a:t>
            </a:r>
            <a:r>
              <a:rPr lang="en-US" dirty="0" err="1"/>
              <a:t>Kết</a:t>
            </a:r>
            <a:r>
              <a:rPr lang="en-US" dirty="0"/>
              <a:t> </a:t>
            </a:r>
            <a:r>
              <a:rPr lang="en-US" dirty="0" err="1"/>
              <a:t>quả</a:t>
            </a:r>
            <a:r>
              <a:rPr lang="en-US" dirty="0"/>
              <a:t> LLM </a:t>
            </a:r>
            <a:r>
              <a:rPr lang="en-US" dirty="0" err="1"/>
              <a:t>chạy</a:t>
            </a:r>
            <a:r>
              <a:rPr lang="en-US" dirty="0"/>
              <a:t> </a:t>
            </a:r>
            <a:r>
              <a:rPr lang="en-US" dirty="0" err="1"/>
              <a:t>trên</a:t>
            </a:r>
            <a:r>
              <a:rPr lang="en-US" dirty="0"/>
              <a:t> A100 query 20_7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812E28-655A-48C1-3292-26CCC06D6B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87424"/>
            <a:ext cx="10515600" cy="4689539"/>
          </a:xfrm>
        </p:spPr>
        <p:txBody>
          <a:bodyPr>
            <a:normAutofit/>
          </a:bodyPr>
          <a:lstStyle/>
          <a:p>
            <a:endParaRPr lang="en-VN" dirty="0"/>
          </a:p>
          <a:p>
            <a:endParaRPr lang="en-VN" dirty="0"/>
          </a:p>
          <a:p>
            <a:endParaRPr lang="en-VN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CDCCAA9-340A-01D7-1127-5FD7FD78F7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8116" y="1360479"/>
            <a:ext cx="9775767" cy="4943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09158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4F7D99-6D60-15D0-EEAF-73E35FBEB1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9BFC690-70DB-2AEA-DA63-EDE4AEE8DC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2. </a:t>
            </a:r>
            <a:r>
              <a:rPr lang="en-US" dirty="0" err="1"/>
              <a:t>Kết</a:t>
            </a:r>
            <a:r>
              <a:rPr lang="en-US" dirty="0"/>
              <a:t> </a:t>
            </a:r>
            <a:r>
              <a:rPr lang="en-US" dirty="0" err="1"/>
              <a:t>quả</a:t>
            </a:r>
            <a:r>
              <a:rPr lang="en-US" dirty="0"/>
              <a:t> 10_3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4E097B-DF63-4278-A1F1-E838BED024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87424"/>
            <a:ext cx="10515600" cy="468953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{</a:t>
            </a:r>
          </a:p>
          <a:p>
            <a:r>
              <a:rPr lang="en-US" dirty="0"/>
              <a:t>  "</a:t>
            </a:r>
            <a:r>
              <a:rPr lang="en-US" dirty="0" err="1"/>
              <a:t>judge_model</a:t>
            </a:r>
            <a:r>
              <a:rPr lang="en-US" dirty="0"/>
              <a:t>": "Qwen/Qwen3.5-27B",</a:t>
            </a:r>
          </a:p>
          <a:p>
            <a:r>
              <a:rPr lang="en-US" dirty="0"/>
              <a:t>  "</a:t>
            </a:r>
            <a:r>
              <a:rPr lang="en-US" dirty="0" err="1"/>
              <a:t>n_samples</a:t>
            </a:r>
            <a:r>
              <a:rPr lang="en-US" dirty="0"/>
              <a:t>": 360,</a:t>
            </a:r>
          </a:p>
          <a:p>
            <a:r>
              <a:rPr lang="en-US" dirty="0"/>
              <a:t>  "</a:t>
            </a:r>
            <a:r>
              <a:rPr lang="en-US" dirty="0" err="1"/>
              <a:t>answer_correctness</a:t>
            </a:r>
            <a:r>
              <a:rPr lang="en-US" dirty="0"/>
              <a:t>": 0.5887,</a:t>
            </a:r>
          </a:p>
          <a:p>
            <a:r>
              <a:rPr lang="en-US" dirty="0"/>
              <a:t>  "faithfulness": 0.7375,</a:t>
            </a:r>
          </a:p>
          <a:p>
            <a:r>
              <a:rPr lang="en-US" dirty="0"/>
              <a:t>  "</a:t>
            </a:r>
            <a:r>
              <a:rPr lang="en-US" dirty="0" err="1"/>
              <a:t>context_recall</a:t>
            </a:r>
            <a:r>
              <a:rPr lang="en-US" dirty="0"/>
              <a:t>": 0.5184,</a:t>
            </a:r>
          </a:p>
          <a:p>
            <a:r>
              <a:rPr lang="en-US" dirty="0"/>
              <a:t>  "</a:t>
            </a:r>
            <a:r>
              <a:rPr lang="en-US" dirty="0" err="1"/>
              <a:t>context_precision</a:t>
            </a:r>
            <a:r>
              <a:rPr lang="en-US" dirty="0"/>
              <a:t>": 0.5426,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7155543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576480-E122-D18E-336A-833BFB8773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191B43D-39E0-FF57-7727-A4C99F5B20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2. </a:t>
            </a:r>
            <a:r>
              <a:rPr lang="en-US" dirty="0" err="1"/>
              <a:t>Kết</a:t>
            </a:r>
            <a:r>
              <a:rPr lang="en-US" dirty="0"/>
              <a:t> </a:t>
            </a:r>
            <a:r>
              <a:rPr lang="en-US" dirty="0" err="1"/>
              <a:t>quả</a:t>
            </a:r>
            <a:r>
              <a:rPr lang="en-US" dirty="0"/>
              <a:t> 10_3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66A1CF-4B22-7145-FCA8-F78379F87E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87424"/>
            <a:ext cx="10515600" cy="4689539"/>
          </a:xfrm>
        </p:spPr>
        <p:txBody>
          <a:bodyPr>
            <a:normAutofit/>
          </a:bodyPr>
          <a:lstStyle/>
          <a:p>
            <a:r>
              <a:rPr lang="en-US" dirty="0"/>
              <a:t>{</a:t>
            </a:r>
          </a:p>
          <a:p>
            <a:r>
              <a:rPr lang="en-US" dirty="0"/>
              <a:t>  "</a:t>
            </a:r>
            <a:r>
              <a:rPr lang="en-US" dirty="0" err="1"/>
              <a:t>judge_model</a:t>
            </a:r>
            <a:r>
              <a:rPr lang="en-US" dirty="0"/>
              <a:t>": "Qwen/Qwen3.5-27B",</a:t>
            </a:r>
          </a:p>
          <a:p>
            <a:r>
              <a:rPr lang="en-US" dirty="0"/>
              <a:t>  "</a:t>
            </a:r>
            <a:r>
              <a:rPr lang="en-US" dirty="0" err="1"/>
              <a:t>n_samples</a:t>
            </a:r>
            <a:r>
              <a:rPr lang="en-US" dirty="0"/>
              <a:t>": 360,</a:t>
            </a:r>
          </a:p>
          <a:p>
            <a:r>
              <a:rPr lang="en-US" dirty="0"/>
              <a:t>  "</a:t>
            </a:r>
            <a:r>
              <a:rPr lang="en-US" dirty="0" err="1"/>
              <a:t>answer_correctness</a:t>
            </a:r>
            <a:r>
              <a:rPr lang="en-US" dirty="0"/>
              <a:t>": 0.5887,</a:t>
            </a:r>
          </a:p>
          <a:p>
            <a:r>
              <a:rPr lang="en-US" dirty="0"/>
              <a:t>  "faithfulness": 0.7375,</a:t>
            </a:r>
          </a:p>
          <a:p>
            <a:r>
              <a:rPr lang="en-US" dirty="0"/>
              <a:t>  "</a:t>
            </a:r>
            <a:r>
              <a:rPr lang="en-US" dirty="0" err="1"/>
              <a:t>context_recall</a:t>
            </a:r>
            <a:r>
              <a:rPr lang="en-US" dirty="0"/>
              <a:t>": 0.5184,</a:t>
            </a:r>
          </a:p>
          <a:p>
            <a:r>
              <a:rPr lang="en-US" dirty="0"/>
              <a:t>  "</a:t>
            </a:r>
            <a:r>
              <a:rPr lang="en-US" dirty="0" err="1"/>
              <a:t>context_precision</a:t>
            </a:r>
            <a:r>
              <a:rPr lang="en-US" dirty="0"/>
              <a:t>": 0.5426,</a:t>
            </a:r>
          </a:p>
          <a:p>
            <a:r>
              <a:rPr lang="en-US" dirty="0"/>
              <a:t>  "</a:t>
            </a:r>
            <a:r>
              <a:rPr lang="en-US" dirty="0" err="1"/>
              <a:t>context_relevance</a:t>
            </a:r>
            <a:r>
              <a:rPr lang="en-US" dirty="0"/>
              <a:t>": </a:t>
            </a:r>
            <a:r>
              <a:rPr lang="en-US" dirty="0" err="1"/>
              <a:t>NaN</a:t>
            </a:r>
            <a:endParaRPr lang="en-US" dirty="0"/>
          </a:p>
          <a:p>
            <a:r>
              <a:rPr lang="en-US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4251855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64F4C1-63F8-4473-9431-847439507C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8A59680-21B0-05AC-03B5-D8948072F2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2. </a:t>
            </a:r>
            <a:r>
              <a:rPr lang="en-US" dirty="0" err="1"/>
              <a:t>Kết</a:t>
            </a:r>
            <a:r>
              <a:rPr lang="en-US" dirty="0"/>
              <a:t> </a:t>
            </a:r>
            <a:r>
              <a:rPr lang="en-US" dirty="0" err="1"/>
              <a:t>quả</a:t>
            </a:r>
            <a:r>
              <a:rPr lang="en-US" dirty="0"/>
              <a:t> 15_5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534469-0B72-03AF-A0C2-0449D03ADB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87424"/>
            <a:ext cx="10515600" cy="4689539"/>
          </a:xfrm>
        </p:spPr>
        <p:txBody>
          <a:bodyPr>
            <a:normAutofit/>
          </a:bodyPr>
          <a:lstStyle/>
          <a:p>
            <a:r>
              <a:rPr lang="en-US" dirty="0"/>
              <a:t>{</a:t>
            </a:r>
          </a:p>
          <a:p>
            <a:r>
              <a:rPr lang="en-US" dirty="0"/>
              <a:t>  "</a:t>
            </a:r>
            <a:r>
              <a:rPr lang="en-US" dirty="0" err="1"/>
              <a:t>judge_model</a:t>
            </a:r>
            <a:r>
              <a:rPr lang="en-US" dirty="0"/>
              <a:t>": "Qwen/Qwen3.5-27B",</a:t>
            </a:r>
          </a:p>
          <a:p>
            <a:r>
              <a:rPr lang="en-US" dirty="0"/>
              <a:t>  "</a:t>
            </a:r>
            <a:r>
              <a:rPr lang="en-US" dirty="0" err="1"/>
              <a:t>n_samples</a:t>
            </a:r>
            <a:r>
              <a:rPr lang="en-US" dirty="0"/>
              <a:t>": 360,</a:t>
            </a:r>
          </a:p>
          <a:p>
            <a:r>
              <a:rPr lang="en-US" dirty="0"/>
              <a:t>  "</a:t>
            </a:r>
            <a:r>
              <a:rPr lang="en-US" dirty="0" err="1"/>
              <a:t>answer_correctness</a:t>
            </a:r>
            <a:r>
              <a:rPr lang="en-US" dirty="0"/>
              <a:t>": 0.6098,</a:t>
            </a:r>
          </a:p>
          <a:p>
            <a:r>
              <a:rPr lang="en-US" dirty="0"/>
              <a:t>  "faithfulness": 0.7723,</a:t>
            </a:r>
          </a:p>
          <a:p>
            <a:r>
              <a:rPr lang="en-US" dirty="0"/>
              <a:t>  "</a:t>
            </a:r>
            <a:r>
              <a:rPr lang="en-US" dirty="0" err="1"/>
              <a:t>context_recall</a:t>
            </a:r>
            <a:r>
              <a:rPr lang="en-US" dirty="0"/>
              <a:t>": 0.6239,</a:t>
            </a:r>
          </a:p>
          <a:p>
            <a:r>
              <a:rPr lang="en-US" dirty="0"/>
              <a:t>  "</a:t>
            </a:r>
            <a:r>
              <a:rPr lang="en-US" dirty="0" err="1"/>
              <a:t>context_precision</a:t>
            </a:r>
            <a:r>
              <a:rPr lang="en-US" dirty="0"/>
              <a:t>": 0.5709,</a:t>
            </a:r>
          </a:p>
          <a:p>
            <a:r>
              <a:rPr lang="en-US" dirty="0"/>
              <a:t>  "</a:t>
            </a:r>
            <a:r>
              <a:rPr lang="en-US" dirty="0" err="1"/>
              <a:t>context_relevance</a:t>
            </a:r>
            <a:r>
              <a:rPr lang="en-US" dirty="0"/>
              <a:t>": </a:t>
            </a:r>
            <a:r>
              <a:rPr lang="en-US" dirty="0" err="1"/>
              <a:t>NaN</a:t>
            </a:r>
            <a:endParaRPr lang="en-US" dirty="0"/>
          </a:p>
          <a:p>
            <a:r>
              <a:rPr lang="en-US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2762155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B85C3A-DFB1-D98B-D178-1003B7B304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E4A185F-F763-EB44-5A95-F3DC9537F3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2. </a:t>
            </a:r>
            <a:r>
              <a:rPr lang="en-US" dirty="0" err="1"/>
              <a:t>Kết</a:t>
            </a:r>
            <a:r>
              <a:rPr lang="en-US" dirty="0"/>
              <a:t> </a:t>
            </a:r>
            <a:r>
              <a:rPr lang="en-US" dirty="0" err="1"/>
              <a:t>quả</a:t>
            </a:r>
            <a:r>
              <a:rPr lang="en-US" dirty="0"/>
              <a:t> 20_7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348F34-2797-5CB1-7A18-B96044111B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87424"/>
            <a:ext cx="10515600" cy="4689539"/>
          </a:xfrm>
        </p:spPr>
        <p:txBody>
          <a:bodyPr>
            <a:normAutofit/>
          </a:bodyPr>
          <a:lstStyle/>
          <a:p>
            <a:r>
              <a:rPr lang="en-US" dirty="0"/>
              <a:t>{</a:t>
            </a:r>
          </a:p>
          <a:p>
            <a:r>
              <a:rPr lang="en-US" dirty="0"/>
              <a:t>  "</a:t>
            </a:r>
            <a:r>
              <a:rPr lang="en-US" dirty="0" err="1"/>
              <a:t>judge_model</a:t>
            </a:r>
            <a:r>
              <a:rPr lang="en-US" dirty="0"/>
              <a:t>": "Qwen/Qwen3.5-27B",</a:t>
            </a:r>
          </a:p>
          <a:p>
            <a:r>
              <a:rPr lang="en-US" dirty="0"/>
              <a:t>  "</a:t>
            </a:r>
            <a:r>
              <a:rPr lang="en-US" dirty="0" err="1"/>
              <a:t>n_samples</a:t>
            </a:r>
            <a:r>
              <a:rPr lang="en-US" dirty="0"/>
              <a:t>": 360,</a:t>
            </a:r>
          </a:p>
          <a:p>
            <a:r>
              <a:rPr lang="en-US" dirty="0"/>
              <a:t>  "</a:t>
            </a:r>
            <a:r>
              <a:rPr lang="en-US" dirty="0" err="1"/>
              <a:t>answer_correctness</a:t>
            </a:r>
            <a:r>
              <a:rPr lang="en-US" dirty="0"/>
              <a:t>": 0.6136,</a:t>
            </a:r>
          </a:p>
          <a:p>
            <a:r>
              <a:rPr lang="en-US" dirty="0"/>
              <a:t>  "faithfulness": 0.7897,</a:t>
            </a:r>
          </a:p>
          <a:p>
            <a:r>
              <a:rPr lang="en-US" dirty="0"/>
              <a:t>  "</a:t>
            </a:r>
            <a:r>
              <a:rPr lang="en-US" dirty="0" err="1"/>
              <a:t>context_recall</a:t>
            </a:r>
            <a:r>
              <a:rPr lang="en-US" dirty="0"/>
              <a:t>": 0.683,</a:t>
            </a:r>
          </a:p>
          <a:p>
            <a:r>
              <a:rPr lang="en-US" dirty="0"/>
              <a:t>  "</a:t>
            </a:r>
            <a:r>
              <a:rPr lang="en-US" dirty="0" err="1"/>
              <a:t>context_precision</a:t>
            </a:r>
            <a:r>
              <a:rPr lang="en-US" dirty="0"/>
              <a:t>": 0.5493,</a:t>
            </a:r>
          </a:p>
          <a:p>
            <a:r>
              <a:rPr lang="en-US" dirty="0"/>
              <a:t>  "</a:t>
            </a:r>
            <a:r>
              <a:rPr lang="en-US" dirty="0" err="1"/>
              <a:t>context_relevance</a:t>
            </a:r>
            <a:r>
              <a:rPr lang="en-US" dirty="0"/>
              <a:t>": </a:t>
            </a:r>
            <a:r>
              <a:rPr lang="en-US" dirty="0" err="1"/>
              <a:t>NaN</a:t>
            </a:r>
            <a:endParaRPr lang="en-US" dirty="0"/>
          </a:p>
          <a:p>
            <a:r>
              <a:rPr lang="en-US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3206432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A6C7DE-A475-93EA-C48B-FA31DC7576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444F134-C16C-24A5-4CD6-F6C754343A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2. </a:t>
            </a:r>
            <a:r>
              <a:rPr lang="en-US" dirty="0" err="1"/>
              <a:t>Kết</a:t>
            </a:r>
            <a:r>
              <a:rPr lang="en-US" dirty="0"/>
              <a:t> </a:t>
            </a:r>
            <a:r>
              <a:rPr lang="en-US" dirty="0" err="1"/>
              <a:t>quả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B3616D-01A4-778F-74CF-ACB3E18AB6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87424"/>
            <a:ext cx="10515600" cy="4689539"/>
          </a:xfrm>
        </p:spPr>
        <p:txBody>
          <a:bodyPr>
            <a:normAutofit/>
          </a:bodyPr>
          <a:lstStyle/>
          <a:p>
            <a:r>
              <a:rPr lang="en-VN" dirty="0"/>
              <a:t>Sử dụng Qwen 3.5 – 27B làm Judge: Đánh giá, một số thông số model này làm khi đánh giá bị mâu thuẫn khi mà context precision = 0 nhưng mà context recall hay faithfulness lại cao</a:t>
            </a:r>
          </a:p>
          <a:p>
            <a:endParaRPr lang="en-VN" dirty="0"/>
          </a:p>
        </p:txBody>
      </p:sp>
    </p:spTree>
    <p:extLst>
      <p:ext uri="{BB962C8B-B14F-4D97-AF65-F5344CB8AC3E}">
        <p14:creationId xmlns:p14="http://schemas.microsoft.com/office/powerpoint/2010/main" val="170105813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0D1B56-F66C-DFF2-75CB-8409A3733A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3815FA5-D018-F868-144B-90A3D4D549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3. </a:t>
            </a:r>
            <a:r>
              <a:rPr lang="en-US" dirty="0" err="1"/>
              <a:t>Kết</a:t>
            </a:r>
            <a:r>
              <a:rPr lang="en-US" dirty="0"/>
              <a:t> </a:t>
            </a:r>
            <a:r>
              <a:rPr lang="en-US" dirty="0" err="1"/>
              <a:t>luận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0B7892-F45A-F16D-83E8-3C1903EF0D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87424"/>
            <a:ext cx="10515600" cy="4689539"/>
          </a:xfrm>
        </p:spPr>
        <p:txBody>
          <a:bodyPr>
            <a:normAutofit/>
          </a:bodyPr>
          <a:lstStyle/>
          <a:p>
            <a:r>
              <a:rPr lang="en-VN" dirty="0"/>
              <a:t>Cần thay đổi LLM model để judge, Qwen 3.5 – 27B chỉ có thể làm tham khảo.</a:t>
            </a:r>
          </a:p>
          <a:p>
            <a:r>
              <a:rPr lang="en-VN" dirty="0"/>
              <a:t>Tìm kiếm một embedding model tốt hơn</a:t>
            </a:r>
          </a:p>
          <a:p>
            <a:r>
              <a:rPr lang="en-VN" dirty="0"/>
              <a:t>Cải tiến kĩ thuật prompting để giảm latency</a:t>
            </a:r>
          </a:p>
          <a:p>
            <a:r>
              <a:rPr lang="en-VN" dirty="0"/>
              <a:t>Có thể finetune model Qwen 3.5 – 4B instruct để giảm latency</a:t>
            </a:r>
          </a:p>
          <a:p>
            <a:endParaRPr lang="en-VN" dirty="0"/>
          </a:p>
        </p:txBody>
      </p:sp>
    </p:spTree>
    <p:extLst>
      <p:ext uri="{BB962C8B-B14F-4D97-AF65-F5344CB8AC3E}">
        <p14:creationId xmlns:p14="http://schemas.microsoft.com/office/powerpoint/2010/main" val="286393537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1017D1-771E-FE98-405B-91C94BC169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EB004DD-67E1-3A2B-C757-388794FD7B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2EEA72-B3FC-BA1E-301F-17FAC0DC40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87424"/>
            <a:ext cx="10515600" cy="4689539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endParaRPr lang="en-VN" sz="6400" dirty="0"/>
          </a:p>
          <a:p>
            <a:pPr marL="0" indent="0" algn="ctr">
              <a:buNone/>
            </a:pPr>
            <a:r>
              <a:rPr lang="en-VN" sz="6400" dirty="0"/>
              <a:t>The end</a:t>
            </a:r>
          </a:p>
          <a:p>
            <a:endParaRPr lang="en-VN" dirty="0"/>
          </a:p>
        </p:txBody>
      </p:sp>
    </p:spTree>
    <p:extLst>
      <p:ext uri="{BB962C8B-B14F-4D97-AF65-F5344CB8AC3E}">
        <p14:creationId xmlns:p14="http://schemas.microsoft.com/office/powerpoint/2010/main" val="200384150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BB26E1-2320-AB86-62B8-D629DFDC01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762F69-ECBD-CB5D-1A44-B79E0DD858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097" y="2730437"/>
            <a:ext cx="6446520" cy="1422464"/>
          </a:xfrm>
        </p:spPr>
        <p:txBody>
          <a:bodyPr>
            <a:normAutofit/>
          </a:bodyPr>
          <a:lstStyle/>
          <a:p>
            <a:r>
              <a:rPr lang="en-VN" dirty="0"/>
              <a:t>Các khía cạnh cần crawl bao gồm:</a:t>
            </a:r>
          </a:p>
          <a:p>
            <a:pPr marL="0" indent="0">
              <a:buNone/>
            </a:pPr>
            <a:r>
              <a:rPr lang="en-VN" dirty="0"/>
              <a:t>=&gt; Khó khăn trong việc lấp đầy đủ dữ liệu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F1B9724-23FC-CBED-2B0E-726A10F64E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721600" cy="27051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885ACC1-469B-C13C-9C29-82A4BE0699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15050" y="3032760"/>
            <a:ext cx="6003853" cy="3825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299764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697179-AB72-B25B-81D5-16E464D211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FD6AFF3-D22F-DE59-5F8B-D05C412879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3. </a:t>
            </a:r>
            <a:r>
              <a:rPr lang="en-US" dirty="0" err="1"/>
              <a:t>Kết</a:t>
            </a:r>
            <a:r>
              <a:rPr lang="en-US" dirty="0"/>
              <a:t> </a:t>
            </a:r>
            <a:r>
              <a:rPr lang="en-US" dirty="0" err="1"/>
              <a:t>quả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6006D-64E2-B6D5-EBE2-4723C7A41B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87424"/>
            <a:ext cx="10515600" cy="4689539"/>
          </a:xfrm>
        </p:spPr>
        <p:txBody>
          <a:bodyPr>
            <a:normAutofit/>
          </a:bodyPr>
          <a:lstStyle/>
          <a:p>
            <a:r>
              <a:rPr lang="en-VN" dirty="0"/>
              <a:t>Test trên toàn bộ câu hỏi với 604 câu đo context recall</a:t>
            </a:r>
          </a:p>
          <a:p>
            <a:r>
              <a:rPr lang="en-VN" dirty="0"/>
              <a:t>Phương pháp: Lấy response = reference để đo độ phủ của context đối với câu trả lời</a:t>
            </a:r>
          </a:p>
          <a:p>
            <a:r>
              <a:rPr lang="en-VN" dirty="0"/>
              <a:t>Số câu:</a:t>
            </a:r>
          </a:p>
          <a:p>
            <a:pPr marL="0" indent="0">
              <a:buNone/>
            </a:pPr>
            <a:r>
              <a:rPr lang="en-VN" dirty="0"/>
              <a:t>&lt; 0.5 : 444</a:t>
            </a:r>
          </a:p>
          <a:p>
            <a:pPr marL="0" indent="0">
              <a:buNone/>
            </a:pPr>
            <a:r>
              <a:rPr lang="en-VN" dirty="0"/>
              <a:t>0.5-0.7 : 76</a:t>
            </a:r>
          </a:p>
          <a:p>
            <a:pPr marL="0" indent="0">
              <a:buNone/>
            </a:pPr>
            <a:r>
              <a:rPr lang="en-VN" dirty="0"/>
              <a:t>0.7-0.9 : 29</a:t>
            </a:r>
          </a:p>
          <a:p>
            <a:pPr marL="0" indent="0">
              <a:buNone/>
            </a:pPr>
            <a:r>
              <a:rPr lang="en-VN" dirty="0"/>
              <a:t>&gt;= 0.9 : 20</a:t>
            </a:r>
          </a:p>
          <a:p>
            <a:pPr marL="0" indent="0">
              <a:buNone/>
            </a:pPr>
            <a:r>
              <a:rPr lang="en-VN" dirty="0"/>
              <a:t>Mean: 0.296</a:t>
            </a:r>
          </a:p>
          <a:p>
            <a:pPr marL="0" indent="0">
              <a:buNone/>
            </a:pPr>
            <a:endParaRPr lang="en-VN" dirty="0"/>
          </a:p>
        </p:txBody>
      </p:sp>
    </p:spTree>
    <p:extLst>
      <p:ext uri="{BB962C8B-B14F-4D97-AF65-F5344CB8AC3E}">
        <p14:creationId xmlns:p14="http://schemas.microsoft.com/office/powerpoint/2010/main" val="227630330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44EF7D7-57BD-4D9D-C6B9-2B916388DE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ntent Placeholder 1">
            <a:extLst>
              <a:ext uri="{FF2B5EF4-FFF2-40B4-BE49-F238E27FC236}">
                <a16:creationId xmlns:a16="http://schemas.microsoft.com/office/drawing/2014/main" id="{3C59623F-CB49-FFA7-3766-1D5D481C1B4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828511" y="643466"/>
            <a:ext cx="6534977" cy="5571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690506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3C62C1-D765-8242-1188-B658177B85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EC79FC8-1BCB-5466-E50D-E1F1FE6FDD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3. </a:t>
            </a:r>
            <a:r>
              <a:rPr lang="en-US" dirty="0" err="1"/>
              <a:t>Kết</a:t>
            </a:r>
            <a:r>
              <a:rPr lang="en-US" dirty="0"/>
              <a:t> </a:t>
            </a:r>
            <a:r>
              <a:rPr lang="en-US" dirty="0" err="1"/>
              <a:t>quả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383036-FEB0-ADFC-1AEF-F39A45BE55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87424"/>
            <a:ext cx="10515600" cy="4689539"/>
          </a:xfrm>
        </p:spPr>
        <p:txBody>
          <a:bodyPr>
            <a:normAutofit/>
          </a:bodyPr>
          <a:lstStyle/>
          <a:p>
            <a:r>
              <a:rPr lang="en-VN" dirty="0"/>
              <a:t>LLM perform kém do không đủ knowledge base để có thể trả lời câu hỏi</a:t>
            </a:r>
          </a:p>
          <a:p>
            <a:r>
              <a:rPr lang="en-VN" dirty="0"/>
              <a:t>Test với 100 câu hỏi đầu:</a:t>
            </a:r>
          </a:p>
          <a:p>
            <a:pPr marL="0" indent="0">
              <a:buNone/>
            </a:pPr>
            <a:endParaRPr lang="en-V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10ECEC6-2D10-D904-7CE8-E29097B7A9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5761" y="2993390"/>
            <a:ext cx="4990239" cy="1517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048548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B637DF-A7FE-31DC-73C4-29301B5FC7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7F56B59-B898-337B-3A48-A137520A73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1. </a:t>
            </a:r>
            <a:r>
              <a:rPr lang="en-US" dirty="0" err="1"/>
              <a:t>Xây</a:t>
            </a:r>
            <a:r>
              <a:rPr lang="en-US" dirty="0"/>
              <a:t> </a:t>
            </a:r>
            <a:r>
              <a:rPr lang="en-US" dirty="0" err="1"/>
              <a:t>dựng</a:t>
            </a:r>
            <a:r>
              <a:rPr lang="en-US" dirty="0"/>
              <a:t> dataset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C74EAD-686F-C866-2FE6-25FAF3B023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87424"/>
            <a:ext cx="10515600" cy="4689539"/>
          </a:xfrm>
        </p:spPr>
        <p:txBody>
          <a:bodyPr>
            <a:normAutofit fontScale="92500" lnSpcReduction="10000"/>
          </a:bodyPr>
          <a:lstStyle/>
          <a:p>
            <a:r>
              <a:rPr lang="en-VN" dirty="0"/>
              <a:t>Crawl dữ liệu từ trang </a:t>
            </a:r>
            <a:r>
              <a:rPr lang="en-US" dirty="0">
                <a:hlinkClick r:id="rId2"/>
              </a:rPr>
              <a:t>https://chinhsachonline.chinhphu.vn</a:t>
            </a:r>
            <a:r>
              <a:rPr lang="en-US" dirty="0"/>
              <a:t>, </a:t>
            </a:r>
            <a:r>
              <a:rPr lang="en-US" dirty="0" err="1"/>
              <a:t>số</a:t>
            </a:r>
            <a:r>
              <a:rPr lang="en-US" dirty="0"/>
              <a:t> </a:t>
            </a:r>
            <a:r>
              <a:rPr lang="en-US" dirty="0" err="1"/>
              <a:t>lượng</a:t>
            </a:r>
            <a:r>
              <a:rPr lang="en-US" dirty="0"/>
              <a:t> 64k </a:t>
            </a:r>
            <a:r>
              <a:rPr lang="en-US" dirty="0" err="1"/>
              <a:t>câu</a:t>
            </a:r>
            <a:r>
              <a:rPr lang="en-US" dirty="0"/>
              <a:t> </a:t>
            </a:r>
            <a:r>
              <a:rPr lang="en-US" dirty="0" err="1"/>
              <a:t>hỏi</a:t>
            </a:r>
            <a:r>
              <a:rPr lang="en-US" dirty="0"/>
              <a:t> </a:t>
            </a:r>
            <a:r>
              <a:rPr lang="en-US" dirty="0" err="1"/>
              <a:t>chọn</a:t>
            </a:r>
            <a:r>
              <a:rPr lang="en-US" dirty="0"/>
              <a:t> </a:t>
            </a:r>
            <a:r>
              <a:rPr lang="en-US" dirty="0" err="1"/>
              <a:t>lọc</a:t>
            </a:r>
            <a:r>
              <a:rPr lang="en-US" dirty="0"/>
              <a:t> </a:t>
            </a:r>
            <a:r>
              <a:rPr lang="en-US" dirty="0" err="1"/>
              <a:t>từ</a:t>
            </a:r>
            <a:r>
              <a:rPr lang="en-US" dirty="0"/>
              <a:t> 518k </a:t>
            </a:r>
            <a:r>
              <a:rPr lang="en-US" dirty="0" err="1"/>
              <a:t>dữ</a:t>
            </a:r>
            <a:r>
              <a:rPr lang="en-US" dirty="0"/>
              <a:t> </a:t>
            </a:r>
            <a:r>
              <a:rPr lang="en-US" dirty="0" err="1"/>
              <a:t>liệu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sử</a:t>
            </a:r>
            <a:r>
              <a:rPr lang="en-US" dirty="0"/>
              <a:t> </a:t>
            </a:r>
            <a:r>
              <a:rPr lang="en-US" dirty="0" err="1"/>
              <a:t>dụng</a:t>
            </a:r>
            <a:r>
              <a:rPr lang="en-US" dirty="0"/>
              <a:t> </a:t>
            </a:r>
            <a:r>
              <a:rPr lang="en-US" dirty="0" err="1"/>
              <a:t>trên</a:t>
            </a:r>
            <a:r>
              <a:rPr lang="en-US" dirty="0"/>
              <a:t> hugging face: https://</a:t>
            </a:r>
            <a:r>
              <a:rPr lang="en-US" dirty="0" err="1"/>
              <a:t>huggingface.co</a:t>
            </a:r>
            <a:r>
              <a:rPr lang="en-US" dirty="0"/>
              <a:t>/datasets/th1nhng0/</a:t>
            </a:r>
            <a:r>
              <a:rPr lang="en-US" dirty="0" err="1"/>
              <a:t>vietnamese</a:t>
            </a:r>
            <a:r>
              <a:rPr lang="en-US" dirty="0"/>
              <a:t>-legal-documents</a:t>
            </a:r>
          </a:p>
          <a:p>
            <a:r>
              <a:rPr lang="en-US" dirty="0" err="1"/>
              <a:t>Thời</a:t>
            </a:r>
            <a:r>
              <a:rPr lang="en-US" dirty="0"/>
              <a:t> </a:t>
            </a:r>
            <a:r>
              <a:rPr lang="en-US" dirty="0" err="1"/>
              <a:t>lượng</a:t>
            </a:r>
            <a:r>
              <a:rPr lang="en-US" dirty="0"/>
              <a:t> crawl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câu</a:t>
            </a:r>
            <a:r>
              <a:rPr lang="en-US" dirty="0"/>
              <a:t> </a:t>
            </a:r>
            <a:r>
              <a:rPr lang="en-US" dirty="0" err="1"/>
              <a:t>hỏi</a:t>
            </a:r>
            <a:r>
              <a:rPr lang="en-US" dirty="0"/>
              <a:t>: </a:t>
            </a:r>
            <a:r>
              <a:rPr lang="en-US" dirty="0" err="1"/>
              <a:t>từ</a:t>
            </a:r>
            <a:r>
              <a:rPr lang="en-US" dirty="0"/>
              <a:t> 1/1/2024 </a:t>
            </a:r>
            <a:r>
              <a:rPr lang="en-US" dirty="0" err="1"/>
              <a:t>đến</a:t>
            </a:r>
            <a:r>
              <a:rPr lang="en-US" dirty="0"/>
              <a:t> 17/3/2026</a:t>
            </a:r>
          </a:p>
          <a:p>
            <a:r>
              <a:rPr lang="en-US" dirty="0"/>
              <a:t>Các </a:t>
            </a:r>
            <a:r>
              <a:rPr lang="en-US" dirty="0" err="1"/>
              <a:t>loại</a:t>
            </a:r>
            <a:r>
              <a:rPr lang="en-US" dirty="0"/>
              <a:t> </a:t>
            </a:r>
            <a:r>
              <a:rPr lang="en-US" dirty="0" err="1"/>
              <a:t>câu</a:t>
            </a:r>
            <a:r>
              <a:rPr lang="en-US" dirty="0"/>
              <a:t> </a:t>
            </a:r>
            <a:r>
              <a:rPr lang="en-US" dirty="0" err="1"/>
              <a:t>hỏi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sử</a:t>
            </a:r>
            <a:r>
              <a:rPr lang="en-US" dirty="0"/>
              <a:t> </a:t>
            </a:r>
            <a:r>
              <a:rPr lang="en-US" dirty="0" err="1"/>
              <a:t>dụng</a:t>
            </a:r>
            <a:r>
              <a:rPr lang="en-US" dirty="0"/>
              <a:t>: </a:t>
            </a:r>
          </a:p>
          <a:p>
            <a:pPr marL="0" indent="0">
              <a:buNone/>
            </a:pPr>
            <a:r>
              <a:rPr lang="vi-VN" dirty="0"/>
              <a:t>- "Bảo hiểm – Trợ cấp xã hội",</a:t>
            </a:r>
          </a:p>
          <a:p>
            <a:pPr marL="0" indent="0">
              <a:buNone/>
            </a:pPr>
            <a:r>
              <a:rPr lang="vi-VN" dirty="0"/>
              <a:t>-   "Lao động – Tiền lương – Người có công",</a:t>
            </a:r>
          </a:p>
          <a:p>
            <a:pPr marL="0" indent="0">
              <a:buNone/>
            </a:pPr>
            <a:r>
              <a:rPr lang="vi-VN" dirty="0"/>
              <a:t>-  "Lĩnh vực khác",</a:t>
            </a:r>
          </a:p>
          <a:p>
            <a:pPr marL="0" indent="0">
              <a:buNone/>
            </a:pPr>
            <a:r>
              <a:rPr lang="vi-VN" dirty="0"/>
              <a:t>- "Tài chính – Ngân hàng – Công Thương",</a:t>
            </a:r>
          </a:p>
          <a:p>
            <a:pPr marL="0" indent="0">
              <a:buNone/>
            </a:pPr>
            <a:r>
              <a:rPr lang="vi-VN" dirty="0"/>
              <a:t>- "Văn hóa – Xã hội",</a:t>
            </a:r>
          </a:p>
          <a:p>
            <a:pPr marL="0" indent="0">
              <a:buNone/>
            </a:pPr>
            <a:r>
              <a:rPr lang="vi-VN" dirty="0"/>
              <a:t>- "Xây dựng - Nông nghiệp - Môi trường"</a:t>
            </a:r>
            <a:endParaRPr lang="en-VN" dirty="0"/>
          </a:p>
          <a:p>
            <a:pPr>
              <a:buFontTx/>
              <a:buChar char="-"/>
            </a:pPr>
            <a:endParaRPr lang="en-VN" dirty="0"/>
          </a:p>
        </p:txBody>
      </p:sp>
    </p:spTree>
    <p:extLst>
      <p:ext uri="{BB962C8B-B14F-4D97-AF65-F5344CB8AC3E}">
        <p14:creationId xmlns:p14="http://schemas.microsoft.com/office/powerpoint/2010/main" val="47090301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ADE2D0-DBF5-3AFB-E9F5-0DC113C62A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92DBF3F-76E9-A01C-6800-526D2BDA4A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2. </a:t>
            </a:r>
            <a:r>
              <a:rPr lang="en-US" dirty="0" err="1"/>
              <a:t>Xây</a:t>
            </a:r>
            <a:r>
              <a:rPr lang="en-US" dirty="0"/>
              <a:t> </a:t>
            </a:r>
            <a:r>
              <a:rPr lang="en-US" dirty="0" err="1"/>
              <a:t>dựng</a:t>
            </a:r>
            <a:r>
              <a:rPr lang="en-US" dirty="0"/>
              <a:t> pipeline: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A65889-867B-72B6-E34B-4DE3D72980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Tx/>
              <a:buChar char="-"/>
            </a:pPr>
            <a:r>
              <a:rPr lang="en-VN" dirty="0"/>
              <a:t>Nối được thành công ASR Service với LLM service.</a:t>
            </a:r>
          </a:p>
          <a:p>
            <a:pPr>
              <a:buFontTx/>
              <a:buChar char="-"/>
            </a:pPr>
            <a:r>
              <a:rPr lang="en-VN"/>
              <a:t>Đã test được TTS service</a:t>
            </a:r>
          </a:p>
          <a:p>
            <a:pPr>
              <a:buFontTx/>
              <a:buChar char="-"/>
            </a:pPr>
            <a:endParaRPr lang="en-VN" dirty="0"/>
          </a:p>
        </p:txBody>
      </p:sp>
    </p:spTree>
    <p:extLst>
      <p:ext uri="{BB962C8B-B14F-4D97-AF65-F5344CB8AC3E}">
        <p14:creationId xmlns:p14="http://schemas.microsoft.com/office/powerpoint/2010/main" val="181945213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2237DC-3538-D9F4-A724-2F674D3480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D847EC8-97A5-894A-411C-6B7DEA471A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1. Model ASR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5F22F2-42C2-5E37-847D-20B9FE7617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VN" dirty="0"/>
              <a:t>Sử dụng model Zipformer-RNNT-6000h-Streaming</a:t>
            </a:r>
          </a:p>
          <a:p>
            <a:r>
              <a:rPr lang="en-VN" dirty="0"/>
              <a:t>Time to first token: 0.047s</a:t>
            </a:r>
          </a:p>
          <a:p>
            <a:r>
              <a:rPr lang="en-VN" dirty="0"/>
              <a:t>Strategy: model đầu vào sẽ được truyền liên tiếp vào embedding BGE-M3 để so sánh với vector database Qdrant và đưa ra các văn bản top 10 similarity và đưa vào model LLM.</a:t>
            </a:r>
          </a:p>
          <a:p>
            <a:endParaRPr lang="en-VN" dirty="0"/>
          </a:p>
          <a:p>
            <a:endParaRPr lang="en-VN" dirty="0"/>
          </a:p>
          <a:p>
            <a:pPr>
              <a:buFontTx/>
              <a:buChar char="-"/>
            </a:pPr>
            <a:endParaRPr lang="en-VN" dirty="0"/>
          </a:p>
        </p:txBody>
      </p:sp>
      <p:sp>
        <p:nvSpPr>
          <p:cNvPr id="9" name="Rectangle 4">
            <a:extLst>
              <a:ext uri="{FF2B5EF4-FFF2-40B4-BE49-F238E27FC236}">
                <a16:creationId xmlns:a16="http://schemas.microsoft.com/office/drawing/2014/main" id="{EC599942-0513-B5FA-BA30-A3E581E40C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VN" altLang="en-V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7261691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EFD1343-EFAA-5D15-B99C-63DE19C006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2BDDF23B-D1DA-4272-296E-E867E6A238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9520"/>
            <a:ext cx="3429000" cy="1719072"/>
          </a:xfrm>
        </p:spPr>
        <p:txBody>
          <a:bodyPr anchor="b">
            <a:normAutofit/>
          </a:bodyPr>
          <a:lstStyle/>
          <a:p>
            <a:r>
              <a:rPr lang="en-US" sz="5400"/>
              <a:t>1. Data được crawl</a:t>
            </a:r>
          </a:p>
        </p:txBody>
      </p:sp>
      <p:sp>
        <p:nvSpPr>
          <p:cNvPr id="16" name="sketch line">
            <a:extLst>
              <a:ext uri="{FF2B5EF4-FFF2-40B4-BE49-F238E27FC236}">
                <a16:creationId xmlns:a16="http://schemas.microsoft.com/office/drawing/2014/main" id="{CD8B4F24-440B-49E9-B85D-733523DC0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80C29C-C436-A93A-972C-21D4231F0A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807208"/>
            <a:ext cx="3429000" cy="3410712"/>
          </a:xfrm>
        </p:spPr>
        <p:txBody>
          <a:bodyPr anchor="t">
            <a:normAutofit/>
          </a:bodyPr>
          <a:lstStyle/>
          <a:p>
            <a:r>
              <a:rPr lang="en-VN" sz="2200" dirty="0"/>
              <a:t>Bài viết được crawl về chủ đề dinh dưỡng của bệnh viện Vinmec, báo Sức khỏe đời sống, Viện Dinh Dưỡng để tiến hành làm database.</a:t>
            </a:r>
          </a:p>
          <a:p>
            <a:pPr marL="0" indent="0">
              <a:buNone/>
            </a:pPr>
            <a:endParaRPr lang="en-VN" sz="2200" dirty="0"/>
          </a:p>
          <a:p>
            <a:endParaRPr lang="en-VN" sz="2200" dirty="0"/>
          </a:p>
          <a:p>
            <a:endParaRPr lang="en-VN" sz="2200" dirty="0"/>
          </a:p>
          <a:p>
            <a:endParaRPr lang="en-VN" sz="2200" dirty="0"/>
          </a:p>
          <a:p>
            <a:pPr>
              <a:buFontTx/>
              <a:buChar char="-"/>
            </a:pPr>
            <a:endParaRPr lang="en-VN" sz="2200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01E852A-5AFF-AA4E-F300-649954608C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4261" y="640080"/>
            <a:ext cx="6523789" cy="5577840"/>
          </a:xfrm>
          <a:prstGeom prst="rect">
            <a:avLst/>
          </a:prstGeom>
        </p:spPr>
      </p:pic>
      <p:sp>
        <p:nvSpPr>
          <p:cNvPr id="9" name="Rectangle 4">
            <a:extLst>
              <a:ext uri="{FF2B5EF4-FFF2-40B4-BE49-F238E27FC236}">
                <a16:creationId xmlns:a16="http://schemas.microsoft.com/office/drawing/2014/main" id="{691D3C9B-0195-A586-BC6A-FE3DC78E6D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VN" altLang="en-V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6736015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9AF34D3-D3A8-5EB9-DD4A-30BCEFC485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38EE407A-DA01-B1EB-17E4-09574C2257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E8A3CF7D-B088-A980-FB48-CD7BF5FD95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9520"/>
            <a:ext cx="3429000" cy="1719072"/>
          </a:xfrm>
        </p:spPr>
        <p:txBody>
          <a:bodyPr anchor="b">
            <a:normAutofit/>
          </a:bodyPr>
          <a:lstStyle/>
          <a:p>
            <a:r>
              <a:rPr lang="en-US" sz="5400"/>
              <a:t>1. Data được crawl</a:t>
            </a:r>
          </a:p>
        </p:txBody>
      </p:sp>
      <p:sp>
        <p:nvSpPr>
          <p:cNvPr id="16" name="sketch line">
            <a:extLst>
              <a:ext uri="{FF2B5EF4-FFF2-40B4-BE49-F238E27FC236}">
                <a16:creationId xmlns:a16="http://schemas.microsoft.com/office/drawing/2014/main" id="{4CF60FEE-E50E-14FE-BB39-FE63ABEEC3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4AB8F5-35A8-8B46-D319-F766239C91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807208"/>
            <a:ext cx="3429000" cy="3410712"/>
          </a:xfrm>
        </p:spPr>
        <p:txBody>
          <a:bodyPr anchor="t">
            <a:normAutofit/>
          </a:bodyPr>
          <a:lstStyle/>
          <a:p>
            <a:r>
              <a:rPr lang="en-VN" sz="2200" dirty="0"/>
              <a:t>Sử dụng các dữ liệu từ Bệnh viện Thu Cúc có câu hỏi và câu trả lời làm tập test cho chủ đề dinh dưỡng</a:t>
            </a:r>
          </a:p>
          <a:p>
            <a:pPr marL="0" indent="0">
              <a:buNone/>
            </a:pPr>
            <a:endParaRPr lang="en-VN" sz="2200" dirty="0"/>
          </a:p>
          <a:p>
            <a:endParaRPr lang="en-VN" sz="2200" dirty="0"/>
          </a:p>
          <a:p>
            <a:endParaRPr lang="en-VN" sz="2200" dirty="0"/>
          </a:p>
          <a:p>
            <a:endParaRPr lang="en-VN" sz="2200" dirty="0"/>
          </a:p>
          <a:p>
            <a:pPr>
              <a:buFontTx/>
              <a:buChar char="-"/>
            </a:pPr>
            <a:endParaRPr lang="en-VN" sz="2200" dirty="0"/>
          </a:p>
        </p:txBody>
      </p:sp>
      <p:sp>
        <p:nvSpPr>
          <p:cNvPr id="9" name="Rectangle 4">
            <a:extLst>
              <a:ext uri="{FF2B5EF4-FFF2-40B4-BE49-F238E27FC236}">
                <a16:creationId xmlns:a16="http://schemas.microsoft.com/office/drawing/2014/main" id="{3333B87A-AA90-4111-E22B-09F4262912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VN" altLang="en-V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69A46E8-7BA9-50F3-52B3-9F0156B800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8195" y="-1953"/>
            <a:ext cx="6472870" cy="68599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77961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5AC7B3-DCFD-CE90-5211-0F0FB341FD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EB79501-B81F-4FB3-97C0-E0357DB1A2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1. </a:t>
            </a:r>
            <a:r>
              <a:rPr lang="en-US" dirty="0" err="1"/>
              <a:t>Đặc</a:t>
            </a:r>
            <a:r>
              <a:rPr lang="en-US" dirty="0"/>
              <a:t> </a:t>
            </a:r>
            <a:r>
              <a:rPr lang="en-US" dirty="0" err="1"/>
              <a:t>điểm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dữ</a:t>
            </a:r>
            <a:r>
              <a:rPr lang="en-US" dirty="0"/>
              <a:t> </a:t>
            </a:r>
            <a:r>
              <a:rPr lang="en-US" dirty="0" err="1"/>
              <a:t>liệu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14FC1A-48C9-FC5E-E938-6A3A2B5D36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VN" dirty="0"/>
              <a:t>5491 tài liệu, Sức khỏe đời sống chiếm ~58%, Vinmec ~33%, Viện dinh dưỡng 9%</a:t>
            </a:r>
          </a:p>
          <a:p>
            <a:r>
              <a:rPr lang="en-VN" dirty="0"/>
              <a:t>Cắt chunk theo từng dấu “\n” trong văn bản và tiến hành gộp lại cho đến khi lớn hơn 700 ký tự thì sẽ tự gộp thành một chunk.</a:t>
            </a:r>
          </a:p>
          <a:p>
            <a:r>
              <a:rPr lang="en-VN" dirty="0"/>
              <a:t>Overlap chunk: Form được thành một câu đủ 200 token</a:t>
            </a:r>
          </a:p>
          <a:p>
            <a:endParaRPr lang="en-VN" dirty="0"/>
          </a:p>
          <a:p>
            <a:endParaRPr lang="en-VN" dirty="0"/>
          </a:p>
          <a:p>
            <a:pPr>
              <a:buFontTx/>
              <a:buChar char="-"/>
            </a:pPr>
            <a:endParaRPr lang="en-VN" dirty="0"/>
          </a:p>
        </p:txBody>
      </p:sp>
      <p:sp>
        <p:nvSpPr>
          <p:cNvPr id="9" name="Rectangle 4">
            <a:extLst>
              <a:ext uri="{FF2B5EF4-FFF2-40B4-BE49-F238E27FC236}">
                <a16:creationId xmlns:a16="http://schemas.microsoft.com/office/drawing/2014/main" id="{6A7F410F-AB05-D250-0DB4-C1304336D4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VN" altLang="en-V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4993436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5D9AB7-B5AB-8E7F-F6BC-FA16B813C0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3E28ABD-CB40-EB28-0350-589D091374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2. </a:t>
            </a:r>
            <a:r>
              <a:rPr lang="en-US" dirty="0" err="1"/>
              <a:t>Đo</a:t>
            </a:r>
            <a:r>
              <a:rPr lang="en-US" dirty="0"/>
              <a:t> model LLM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5396F5-BCD7-24B6-706F-E2B90EF796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VN" dirty="0"/>
              <a:t>Sử dụng model </a:t>
            </a:r>
            <a:r>
              <a:rPr lang="en-US" dirty="0"/>
              <a:t>Qwen3-4B-Instruct-2507</a:t>
            </a:r>
            <a:r>
              <a:rPr lang="en-VN" dirty="0"/>
              <a:t>.</a:t>
            </a:r>
          </a:p>
          <a:p>
            <a:pPr marL="0" indent="0">
              <a:buNone/>
            </a:pPr>
            <a:endParaRPr lang="en-VN" dirty="0"/>
          </a:p>
          <a:p>
            <a:endParaRPr lang="en-VN" dirty="0"/>
          </a:p>
          <a:p>
            <a:endParaRPr lang="en-VN" dirty="0"/>
          </a:p>
          <a:p>
            <a:endParaRPr lang="en-VN" dirty="0"/>
          </a:p>
          <a:p>
            <a:pPr>
              <a:buFontTx/>
              <a:buChar char="-"/>
            </a:pPr>
            <a:endParaRPr lang="en-VN" dirty="0"/>
          </a:p>
        </p:txBody>
      </p:sp>
      <p:sp>
        <p:nvSpPr>
          <p:cNvPr id="9" name="Rectangle 4">
            <a:extLst>
              <a:ext uri="{FF2B5EF4-FFF2-40B4-BE49-F238E27FC236}">
                <a16:creationId xmlns:a16="http://schemas.microsoft.com/office/drawing/2014/main" id="{85CF7E1D-B9D1-10FD-4C15-D6BD349C08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VN" altLang="en-V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8843528-C2D3-3C06-9F2D-8D9212D164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17721" y="2580968"/>
            <a:ext cx="6356558" cy="35959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916477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3A4CAA-CAF2-123A-AF14-B651929358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13C0C44-E233-B450-FB35-26F7C18ED0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2. </a:t>
            </a:r>
            <a:r>
              <a:rPr lang="en-US" dirty="0" err="1"/>
              <a:t>Đo</a:t>
            </a:r>
            <a:r>
              <a:rPr lang="en-US" dirty="0"/>
              <a:t> model LLM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16AA4E-E9C6-C242-A7D6-3A6C9FF7E3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VN" dirty="0"/>
          </a:p>
          <a:p>
            <a:endParaRPr lang="en-VN" dirty="0"/>
          </a:p>
          <a:p>
            <a:endParaRPr lang="en-VN" dirty="0"/>
          </a:p>
          <a:p>
            <a:endParaRPr lang="en-VN" dirty="0"/>
          </a:p>
          <a:p>
            <a:pPr>
              <a:buFontTx/>
              <a:buChar char="-"/>
            </a:pPr>
            <a:endParaRPr lang="en-VN" dirty="0"/>
          </a:p>
        </p:txBody>
      </p:sp>
      <p:sp>
        <p:nvSpPr>
          <p:cNvPr id="9" name="Rectangle 4">
            <a:extLst>
              <a:ext uri="{FF2B5EF4-FFF2-40B4-BE49-F238E27FC236}">
                <a16:creationId xmlns:a16="http://schemas.microsoft.com/office/drawing/2014/main" id="{2BAE6D22-DD8F-FE5E-42E5-55AFD8576D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VN" altLang="en-V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05D25D2-C6D0-0349-52F6-4E5190A4BF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1690688"/>
            <a:ext cx="7772400" cy="4391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419152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50A9F8-22EA-CF3B-1DD7-5CDB9B955B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BBE3332-A780-0524-9FD9-9FABD6DFC5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2. </a:t>
            </a:r>
            <a:r>
              <a:rPr lang="en-US" dirty="0" err="1"/>
              <a:t>Đo</a:t>
            </a:r>
            <a:r>
              <a:rPr lang="en-US" dirty="0"/>
              <a:t> model LLM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418C78-F4D9-A9C1-E91B-4F19D6AB7B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vi-VN" dirty="0"/>
              <a:t>TTFT:  p50 = 283ms, p90 = 320.6ms, p95 = 333.0ms, p99 = 352.0ms </a:t>
            </a:r>
            <a:r>
              <a:rPr lang="en-VN" dirty="0"/>
              <a:t>.</a:t>
            </a:r>
          </a:p>
          <a:p>
            <a:r>
              <a:rPr lang="en-VN" dirty="0"/>
              <a:t>Token speed: p50 = 72.8 t/s, p90 = 78.0 t/s, p95 = 79.4 t/s, p99 = 82.0 t/s.</a:t>
            </a:r>
          </a:p>
          <a:p>
            <a:pPr marL="0" indent="0">
              <a:buNone/>
            </a:pPr>
            <a:endParaRPr lang="en-VN" dirty="0"/>
          </a:p>
          <a:p>
            <a:endParaRPr lang="en-VN" dirty="0"/>
          </a:p>
          <a:p>
            <a:endParaRPr lang="en-VN" dirty="0"/>
          </a:p>
          <a:p>
            <a:endParaRPr lang="en-VN" dirty="0"/>
          </a:p>
          <a:p>
            <a:pPr>
              <a:buFontTx/>
              <a:buChar char="-"/>
            </a:pPr>
            <a:endParaRPr lang="en-VN" dirty="0"/>
          </a:p>
        </p:txBody>
      </p:sp>
      <p:sp>
        <p:nvSpPr>
          <p:cNvPr id="9" name="Rectangle 4">
            <a:extLst>
              <a:ext uri="{FF2B5EF4-FFF2-40B4-BE49-F238E27FC236}">
                <a16:creationId xmlns:a16="http://schemas.microsoft.com/office/drawing/2014/main" id="{04D3851D-AFD7-5D00-DAB7-62CB809867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VN" altLang="en-V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594136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4627</TotalTime>
  <Words>904</Words>
  <Application>Microsoft Macintosh PowerPoint</Application>
  <PresentationFormat>Widescreen</PresentationFormat>
  <Paragraphs>125</Paragraphs>
  <Slides>27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1" baseType="lpstr">
      <vt:lpstr>Arial</vt:lpstr>
      <vt:lpstr>Calibri</vt:lpstr>
      <vt:lpstr>Calibri Light</vt:lpstr>
      <vt:lpstr>Office Theme</vt:lpstr>
      <vt:lpstr>Báo Cáo đồ án tốt nghiệp</vt:lpstr>
      <vt:lpstr>1. Tình trạng hiện tại</vt:lpstr>
      <vt:lpstr>2. Kết quả của ASR</vt:lpstr>
      <vt:lpstr>2. Kết quả của ASR</vt:lpstr>
      <vt:lpstr>2. Kết quả LLM chạy trên A100 query 10_3</vt:lpstr>
      <vt:lpstr>2. Kết quả LLM chạy trên A100 query 15_5</vt:lpstr>
      <vt:lpstr>2. Kết quả LLM chạy trên A100 query 20_7</vt:lpstr>
      <vt:lpstr>2. Kết quả 10_3</vt:lpstr>
      <vt:lpstr>2. Kết quả 10_3</vt:lpstr>
      <vt:lpstr>2. Kết quả 15_5</vt:lpstr>
      <vt:lpstr>2. Kết quả 20_7</vt:lpstr>
      <vt:lpstr>2. Kết quả</vt:lpstr>
      <vt:lpstr>3. Kết luận</vt:lpstr>
      <vt:lpstr>PowerPoint Presentation</vt:lpstr>
      <vt:lpstr>PowerPoint Presentation</vt:lpstr>
      <vt:lpstr>3. Kết quả</vt:lpstr>
      <vt:lpstr>PowerPoint Presentation</vt:lpstr>
      <vt:lpstr>3. Kết quả</vt:lpstr>
      <vt:lpstr>1. Xây dựng dataset</vt:lpstr>
      <vt:lpstr>2. Xây dựng pipeline: </vt:lpstr>
      <vt:lpstr>1. Model ASR</vt:lpstr>
      <vt:lpstr>1. Data được crawl</vt:lpstr>
      <vt:lpstr>1. Data được crawl</vt:lpstr>
      <vt:lpstr>1. Đặc điểm của dữ liệu</vt:lpstr>
      <vt:lpstr>2. Đo model LLM</vt:lpstr>
      <vt:lpstr>2. Đo model LLM</vt:lpstr>
      <vt:lpstr>2. Đo model LLM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Báo Cáo Mini Project</dc:title>
  <dc:creator>An Bùi</dc:creator>
  <cp:lastModifiedBy>Tran Quang Minh (BDR)</cp:lastModifiedBy>
  <cp:revision>11</cp:revision>
  <dcterms:created xsi:type="dcterms:W3CDTF">2025-05-02T09:09:57Z</dcterms:created>
  <dcterms:modified xsi:type="dcterms:W3CDTF">2026-05-13T18:45:43Z</dcterms:modified>
</cp:coreProperties>
</file>